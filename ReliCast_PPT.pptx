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topic: reliable file distribution to many LAN receivers using multicast with NACK suppression.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teacher or admin pushes a file to many laptops on one 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copy on the wire regardless of N; the network replicates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the two foundational protocols,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Narrowed from several gaps to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sender process, N receiver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24-byte header in network byte order; ALF - each packet self-describing.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Randomised timer, suppression on overheard NACK, back-off, sender hold-off and 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Receivers have injected clock skew of +/-100..500 ms; SNTP corrects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call used is a syllabus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python run.py dashboard; compare the four modes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Duration and overhead versus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Duration and delivery ratio versus loss at N =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NACK/repair counts and SNTP-corrected OWD at the demo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run.py send &lt;file&gt; / receive; dashboard Send and Receive tabs.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Hotspots and APs often block multicast; hybrid delivery keeps the session alive.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MB file, one receiver with 4% injected loss, one with multicast blocked.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findings, contribution and honest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48640"/>
            <a:ext cx="822960" cy="8595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D1D5DB"/>
                </a:solidFill>
                <a:latin typeface="Calibri"/>
              </a:rPr>
              <a:t>B.M.S. College of Engineering  |  Department of Computer Science and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ReliCast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0" i="0">
                <a:solidFill>
                  <a:srgbClr val="86EFAC"/>
                </a:solidFill>
                <a:latin typeface="Calibri"/>
              </a:rPr>
              <a:t>NACK-Suppressed Reliable Multicast for LAN Content Distribution</a:t>
            </a:r>
          </a:p>
          <a:p>
            <a:pPr algn="l"/>
            <a:r>
              <a:rPr sz="2600" b="0" i="0">
                <a:solidFill>
                  <a:srgbClr val="86EFAC"/>
                </a:solidFill>
                <a:latin typeface="Calibri"/>
              </a:rPr>
              <a:t>with SNTP-Synchronised Measurement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NAME 1 (USN 1)   |   NAME 2 (USN 2)   |   NAME 3 (USN 3)   |   NAME 4 (USN 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D1D5DB"/>
                </a:solidFill>
                <a:latin typeface="Calibri"/>
              </a:rPr>
              <a:t>Network Programming (23CS7PCNWP) - Guide: Dr. Anitha H M, Associate Professor</a:t>
            </a:r>
          </a:p>
          <a:p>
            <a:pPr algn="l"/>
            <a:r>
              <a:rPr sz="1400" b="0" i="0">
                <a:solidFill>
                  <a:srgbClr val="D1D5DB"/>
                </a:solidFill>
                <a:latin typeface="Calibri"/>
              </a:rPr>
              <a:t>AAT Presentation (2026-2027)  |  Alternate Assessment Tool,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Problem and use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2000">
                <a:solidFill>
                  <a:srgbClr val="111827"/>
                </a:solidFill>
                <a:latin typeface="Calibri"/>
              </a:rPr>
              <a:t>Use case: </a:t>
            </a:r>
            <a:r>
              <a:rPr sz="2000">
                <a:solidFill>
                  <a:srgbClr val="374151"/>
                </a:solidFill>
                <a:latin typeface="Calibri"/>
              </a:rPr>
              <a:t>push slides or an update package to every laptop in a lab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2000">
                <a:solidFill>
                  <a:srgbClr val="111827"/>
                </a:solidFill>
                <a:latin typeface="Calibri"/>
              </a:rPr>
              <a:t>TCP to each receiver: </a:t>
            </a:r>
            <a:r>
              <a:rPr sz="2000">
                <a:solidFill>
                  <a:srgbClr val="374151"/>
                </a:solidFill>
                <a:latin typeface="Calibri"/>
              </a:rPr>
              <a:t>sender transmits N copies, so time and bytes grow linearly with N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2000">
                <a:solidFill>
                  <a:srgbClr val="111827"/>
                </a:solidFill>
                <a:latin typeface="Calibri"/>
              </a:rPr>
              <a:t>Raw UDP multicast: </a:t>
            </a:r>
            <a:r>
              <a:rPr sz="2000">
                <a:solidFill>
                  <a:srgbClr val="374151"/>
                </a:solidFill>
                <a:latin typeface="Calibri"/>
              </a:rPr>
              <a:t>one copy, but no retransmission - data is silently lost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2000">
                <a:solidFill>
                  <a:srgbClr val="111827"/>
                </a:solidFill>
                <a:latin typeface="Calibri"/>
              </a:rPr>
              <a:t>Need: </a:t>
            </a:r>
            <a:r>
              <a:rPr sz="2000">
                <a:solidFill>
                  <a:srgbClr val="374151"/>
                </a:solidFill>
                <a:latin typeface="Calibri"/>
              </a:rPr>
              <a:t>one multicast copy + reliable repair that does not cause a NACK implosion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2000">
                <a:solidFill>
                  <a:srgbClr val="111827"/>
                </a:solidFill>
                <a:latin typeface="Calibri"/>
              </a:rPr>
              <a:t>Our answer: </a:t>
            </a:r>
            <a:r>
              <a:rPr sz="2000">
                <a:solidFill>
                  <a:srgbClr val="374151"/>
                </a:solidFill>
                <a:latin typeface="Calibri"/>
              </a:rPr>
              <a:t>ReliCast = multicast DATA + receiver-driven NACKs with randomised suppression + SNTP-synchronised measurement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463040"/>
            <a:ext cx="4023360" cy="17373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1554480"/>
            <a:ext cx="3749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Calibri"/>
              </a:rPr>
              <a:t>Measured at N =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2029968"/>
            <a:ext cx="37490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0">
                <a:solidFill>
                  <a:srgbClr val="374151"/>
                </a:solidFill>
                <a:latin typeface="Calibri"/>
              </a:rPr>
              <a:t>TCP overhead 18.30x</a:t>
            </a:r>
          </a:p>
          <a:p>
            <a:pPr algn="l"/>
            <a:r>
              <a:rPr sz="2000" b="0" i="0">
                <a:solidFill>
                  <a:srgbClr val="374151"/>
                </a:solidFill>
                <a:latin typeface="Calibri"/>
              </a:rPr>
              <a:t>ReliCast overhead 1.72x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474720"/>
            <a:ext cx="4023360" cy="17373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80" y="3566160"/>
            <a:ext cx="3749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Calibri"/>
              </a:rPr>
              <a:t>Raw UDP at 20%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4041648"/>
            <a:ext cx="37490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0">
                <a:solidFill>
                  <a:srgbClr val="374151"/>
                </a:solidFill>
                <a:latin typeface="Calibri"/>
              </a:rPr>
              <a:t>Delivers only 79.3% of the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Why multicast?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900">
                <a:solidFill>
                  <a:srgbClr val="111827"/>
                </a:solidFill>
                <a:latin typeface="Calibri"/>
              </a:rPr>
              <a:t>Unicast: </a:t>
            </a:r>
            <a:r>
              <a:rPr sz="1900">
                <a:solidFill>
                  <a:srgbClr val="374151"/>
                </a:solidFill>
                <a:latin typeface="Calibri"/>
              </a:rPr>
              <a:t>N copies leave the sender; overhead ratio ~ N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900">
                <a:solidFill>
                  <a:srgbClr val="111827"/>
                </a:solidFill>
                <a:latin typeface="Calibri"/>
              </a:rPr>
              <a:t>Broadcast: </a:t>
            </a:r>
            <a:r>
              <a:rPr sz="1900">
                <a:solidFill>
                  <a:srgbClr val="374151"/>
                </a:solidFill>
                <a:latin typeface="Calibri"/>
              </a:rPr>
              <a:t>reaches everyone, interested or not, one subnet only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900">
                <a:solidFill>
                  <a:srgbClr val="111827"/>
                </a:solidFill>
                <a:latin typeface="Calibri"/>
              </a:rPr>
              <a:t>Multicast (RFC 1112): </a:t>
            </a:r>
            <a:r>
              <a:rPr sz="1900">
                <a:solidFill>
                  <a:srgbClr val="374151"/>
                </a:solidFill>
                <a:latin typeface="Calibri"/>
              </a:rPr>
              <a:t>one datagram to a group address; receivers join via IGMP; TTL limits scope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900">
                <a:solidFill>
                  <a:srgbClr val="111827"/>
                </a:solidFill>
                <a:latin typeface="Calibri"/>
              </a:rPr>
              <a:t>Price: </a:t>
            </a:r>
            <a:r>
              <a:rPr sz="1900">
                <a:solidFill>
                  <a:srgbClr val="374151"/>
                </a:solidFill>
                <a:latin typeface="Calibri"/>
              </a:rPr>
              <a:t>UDP semantics - the application must supply reliability and pacing</a:t>
            </a:r>
          </a:p>
        </p:txBody>
      </p:sp>
      <p:pic>
        <p:nvPicPr>
          <p:cNvPr id="8" name="Picture 7" descr="bytes_on_w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07627"/>
            <a:ext cx="5852160" cy="37341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52160" y="5687567"/>
            <a:ext cx="5852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Bytes on the wire at the demo point (N = 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833872"/>
            <a:ext cx="106984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Demo point: TCP sent 3.76 MB, naive multicast 0.92 MB, ReliCast 0.82 MB (file = 0.52 MB)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Research papers reviewed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40680" cy="42976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5166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Calibri"/>
              </a:rPr>
              <a:t>SRM - Floyd et al., IEEE/ACM ToN 1997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38528"/>
            <a:ext cx="516636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Problem: ACK implosion; sender cannot track all receivers</a:t>
            </a:r>
          </a:p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Mechanism: random request timer in [C1*d, (C1+C2)*d]; suppress if another request is heard; exponential back-off; any member can repair; adaptive timers</a:t>
            </a:r>
          </a:p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Results: ns-2 chain / star / tree topologies, wb whiteboard</a:t>
            </a:r>
          </a:p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Limits: session-message overhead, multicast repairs, simulation only</a:t>
            </a:r>
          </a:p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Used here: random timers, suppression, back-off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40680" cy="42976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63040"/>
            <a:ext cx="5166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Calibri"/>
              </a:rPr>
              <a:t>NORM - Adamson et al., RFC 5740, 2009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38528"/>
            <a:ext cx="516636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Problem: scalable NACK-based reliability over multicast</a:t>
            </a:r>
          </a:p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Mechanism: GRTT-scaled random back-off, NACK suppression, sender repair aggregation, flush/heartbeat, optional FEC and congestion control</a:t>
            </a:r>
          </a:p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Results: standards-track specification (no measurement campaign)</a:t>
            </a:r>
          </a:p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Limits: GRTT state, no one-way-delay method, complex</a:t>
            </a:r>
          </a:p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Used here: repair hold-off + union, heartbeat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Supporting specs: RFC 4330 (SNTPv4), RFC 1112 (host multicast)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6A34A"/>
                </a:solidFill>
                <a:latin typeface="Calibri"/>
              </a:rPr>
              <a:t>•  </a:t>
            </a:r>
            <a:r>
              <a:rPr sz="1800">
                <a:solidFill>
                  <a:srgbClr val="374151"/>
                </a:solidFill>
                <a:latin typeface="Calibri"/>
              </a:rPr>
              <a:t>SRM / NORM windows come from distance or GRTT estimates - not tuned from measured one-way delay and jitter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6A34A"/>
                </a:solidFill>
                <a:latin typeface="Calibri"/>
              </a:rPr>
              <a:t>•  </a:t>
            </a:r>
            <a:r>
              <a:rPr sz="1800">
                <a:solidFill>
                  <a:srgbClr val="374151"/>
                </a:solidFill>
                <a:latin typeface="Calibri"/>
              </a:rPr>
              <a:t>SRM results are ns-2 simulations; RFC 5740 has no measurements - little data from real sockets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6A34A"/>
                </a:solidFill>
                <a:latin typeface="Calibri"/>
              </a:rPr>
              <a:t>•  </a:t>
            </a:r>
            <a:r>
              <a:rPr sz="1800">
                <a:solidFill>
                  <a:srgbClr val="374151"/>
                </a:solidFill>
                <a:latin typeface="Calibri"/>
              </a:rPr>
              <a:t>One-way delay needs synchronised clocks, so papers report RTT or simulated time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6A34A"/>
                </a:solidFill>
                <a:latin typeface="Calibri"/>
              </a:rPr>
              <a:t>•  </a:t>
            </a:r>
            <a:r>
              <a:rPr sz="1800">
                <a:solidFill>
                  <a:srgbClr val="374151"/>
                </a:solidFill>
                <a:latin typeface="Calibri"/>
              </a:rPr>
              <a:t>Comparisons with TCP-unicast and raw UDP baselines are mostly qualitative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434840"/>
            <a:ext cx="1078991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11827"/>
                </a:solidFill>
                <a:latin typeface="Calibri"/>
              </a:rPr>
              <a:t>Chosen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10328"/>
            <a:ext cx="10789919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0">
                <a:solidFill>
                  <a:srgbClr val="374151"/>
                </a:solidFill>
                <a:latin typeface="Calibri"/>
              </a:rPr>
              <a:t>A real-socket study of NACK-suppressed multicast with an SNTP-synchronised, delay-adaptive window, benchmarked against TCP, raw UDP and un-suppressed multicast in one harness.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281" y="1234440"/>
            <a:ext cx="8510957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Protocol and packet format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packet_form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675" y="1234440"/>
            <a:ext cx="4470169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74320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700">
                <a:solidFill>
                  <a:srgbClr val="111827"/>
                </a:solidFill>
                <a:latin typeface="Calibri"/>
              </a:rPr>
              <a:t>DATA / REPAIR: </a:t>
            </a:r>
            <a:r>
              <a:rPr sz="1700">
                <a:solidFill>
                  <a:srgbClr val="374151"/>
                </a:solidFill>
                <a:latin typeface="Calibri"/>
              </a:rPr>
              <a:t>1 KB chunk, seq, total, SNTP-corrected sender timestamp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700">
                <a:solidFill>
                  <a:srgbClr val="111827"/>
                </a:solidFill>
                <a:latin typeface="Calibri"/>
              </a:rPr>
              <a:t>HEARTBEAT: </a:t>
            </a:r>
            <a:r>
              <a:rPr sz="1700">
                <a:solidFill>
                  <a:srgbClr val="374151"/>
                </a:solidFill>
                <a:latin typeface="Calibri"/>
              </a:rPr>
              <a:t>carries highest seq sent - exposes tail losses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700">
                <a:solidFill>
                  <a:srgbClr val="111827"/>
                </a:solidFill>
                <a:latin typeface="Calibri"/>
              </a:rPr>
              <a:t>NACK: </a:t>
            </a:r>
            <a:r>
              <a:rPr sz="1700">
                <a:solidFill>
                  <a:srgbClr val="374151"/>
                </a:solidFill>
                <a:latin typeface="Calibri"/>
              </a:rPr>
              <a:t>receiver id + inclusive seq ranges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700">
                <a:solidFill>
                  <a:srgbClr val="111827"/>
                </a:solidFill>
                <a:latin typeface="Calibri"/>
              </a:rPr>
              <a:t>FIN / PROBE: </a:t>
            </a:r>
            <a:r>
              <a:rPr sz="1700">
                <a:solidFill>
                  <a:srgbClr val="374151"/>
                </a:solidFill>
                <a:latin typeface="Calibri"/>
              </a:rPr>
              <a:t>end of session / interface test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700">
                <a:solidFill>
                  <a:srgbClr val="111827"/>
                </a:solidFill>
                <a:latin typeface="Calibri"/>
              </a:rPr>
              <a:t>TCP control: </a:t>
            </a:r>
            <a:r>
              <a:rPr sz="1700">
                <a:solidFill>
                  <a:srgbClr val="374151"/>
                </a:solidFill>
                <a:latin typeface="Calibri"/>
              </a:rPr>
              <a:t>JSON meta (size, chunks, SHA-256, group, SNTP port) and final stats</a:t>
            </a:r>
          </a:p>
        </p:txBody>
      </p:sp>
      <p:pic>
        <p:nvPicPr>
          <p:cNvPr id="9" name="Picture 8" descr="stat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6195" y="2834640"/>
            <a:ext cx="5558408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5047488"/>
            <a:ext cx="5577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Receiver state machine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Algorithm: NACK suppression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nack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40" y="1188720"/>
            <a:ext cx="4456158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700">
                <a:solidFill>
                  <a:srgbClr val="111827"/>
                </a:solidFill>
                <a:latin typeface="Calibri"/>
              </a:rPr>
              <a:t>Timer: </a:t>
            </a:r>
            <a:r>
              <a:rPr sz="1700">
                <a:solidFill>
                  <a:srgbClr val="374151"/>
                </a:solidFill>
                <a:latin typeface="Calibri"/>
              </a:rPr>
              <a:t>T = U[0,1) x W x 2^k, W = clamp(10 + 3(owd + 4 jitter), 10, 100) ms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700">
                <a:solidFill>
                  <a:srgbClr val="111827"/>
                </a:solidFill>
                <a:latin typeface="Calibri"/>
              </a:rPr>
              <a:t>Suppression: </a:t>
            </a:r>
            <a:r>
              <a:rPr sz="1700">
                <a:solidFill>
                  <a:srgbClr val="374151"/>
                </a:solidFill>
                <a:latin typeface="Calibri"/>
              </a:rPr>
              <a:t>an overheard NACK covering my gap cancels my timer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700">
                <a:solidFill>
                  <a:srgbClr val="111827"/>
                </a:solidFill>
                <a:latin typeface="Calibri"/>
              </a:rPr>
              <a:t>Expected NACKs per lost chunk: </a:t>
            </a:r>
            <a:r>
              <a:rPr sz="1700">
                <a:solidFill>
                  <a:srgbClr val="374151"/>
                </a:solidFill>
                <a:latin typeface="Calibri"/>
              </a:rPr>
              <a:t>~ 1 + M*d/W (M receivers missing it, d = delay) vs M without suppression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700">
                <a:solidFill>
                  <a:srgbClr val="111827"/>
                </a:solidFill>
                <a:latin typeface="Calibri"/>
              </a:rPr>
              <a:t>Sender: </a:t>
            </a:r>
            <a:r>
              <a:rPr sz="1700">
                <a:solidFill>
                  <a:srgbClr val="374151"/>
                </a:solidFill>
                <a:latin typeface="Calibri"/>
              </a:rPr>
              <a:t>6 ms hold-off, repair the union of ranges once, 30 ms repair guard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700">
                <a:solidFill>
                  <a:srgbClr val="111827"/>
                </a:solidFill>
                <a:latin typeface="Calibri"/>
              </a:rPr>
              <a:t>Result at demo point: </a:t>
            </a:r>
            <a:r>
              <a:rPr sz="1700">
                <a:solidFill>
                  <a:srgbClr val="374151"/>
                </a:solidFill>
                <a:latin typeface="Calibri"/>
              </a:rPr>
              <a:t>130 NACKs vs 322 naive (60% fewer); 134 suppressed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SNTP: measuring one-way delay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sntp_sk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91709"/>
            <a:ext cx="6766560" cy="3143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37160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800">
                <a:solidFill>
                  <a:srgbClr val="111827"/>
                </a:solidFill>
                <a:latin typeface="Calibri"/>
              </a:rPr>
              <a:t>Offset: </a:t>
            </a:r>
            <a:r>
              <a:rPr sz="1800">
                <a:solidFill>
                  <a:srgbClr val="374151"/>
                </a:solidFill>
                <a:latin typeface="Calibri"/>
              </a:rPr>
              <a:t>theta = ((t2 - t1) + (t3 - t4)) / 2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800">
                <a:solidFill>
                  <a:srgbClr val="111827"/>
                </a:solidFill>
                <a:latin typeface="Calibri"/>
              </a:rPr>
              <a:t>Delay: </a:t>
            </a:r>
            <a:r>
              <a:rPr sz="1800">
                <a:solidFill>
                  <a:srgbClr val="374151"/>
                </a:solidFill>
                <a:latin typeface="Calibri"/>
              </a:rPr>
              <a:t>delta = (t4 - t1) - (t3 - t2)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800">
                <a:solidFill>
                  <a:srgbClr val="111827"/>
                </a:solidFill>
                <a:latin typeface="Calibri"/>
              </a:rPr>
              <a:t>Best of 5 </a:t>
            </a:r>
            <a:r>
              <a:rPr sz="1800">
                <a:solidFill>
                  <a:srgbClr val="374151"/>
                </a:solidFill>
                <a:latin typeface="Calibri"/>
              </a:rPr>
              <a:t>samples (min delay) per receiver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800">
                <a:solidFill>
                  <a:srgbClr val="111827"/>
                </a:solidFill>
                <a:latin typeface="Calibri"/>
              </a:rPr>
              <a:t>OWD = </a:t>
            </a:r>
            <a:r>
              <a:rPr sz="1800">
                <a:solidFill>
                  <a:srgbClr val="374151"/>
                </a:solidFill>
                <a:latin typeface="Calibri"/>
              </a:rPr>
              <a:t>(t_rx - theta) - ts_sender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33872"/>
            <a:ext cx="106984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Skews up to 360 ms recovered to within 0.42 ms; mean OWD 89.5 ms raw -&gt; 2.89 ms corrected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Socket programming and syllabus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840480"/>
                <a:gridCol w="6400800"/>
              </a:tblGrid>
              <a:tr h="7010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Calls / options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415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4151"/>
                          </a:solidFill>
                          <a:latin typeface="Calibri"/>
                        </a:rPr>
                        <a:t>Sockets, byte order, buffers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4151"/>
                          </a:solidFill>
                          <a:latin typeface="Calibri"/>
                        </a:rPr>
                        <a:t>socket(), struct '!2sBBIIIQ', SO_RCVBUF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415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4151"/>
                          </a:solidFill>
                          <a:latin typeface="Calibri"/>
                        </a:rPr>
                        <a:t>TCP control channel, socket options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4151"/>
                          </a:solidFill>
                          <a:latin typeface="Calibri"/>
                        </a:rPr>
                        <a:t>bind / listen / accept / connect / sendall / recv; SO_REUSEADDR, SO_REUSEPORT, IP_MULTICAST_TTL / IF /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4151"/>
                          </a:solidFill>
                          <a:latin typeface="Calibri"/>
                        </a:rPr>
                        <a:t>UDP data path, no flow control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4151"/>
                          </a:solidFill>
                          <a:latin typeface="Calibri"/>
                        </a:rPr>
                        <a:t>sendto / recvfrom, pacing, select(), timeouts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415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4151"/>
                          </a:solidFill>
                          <a:latin typeface="Calibri"/>
                        </a:rPr>
                        <a:t>Unicast vs broadcast vs multicast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4151"/>
                          </a:solidFill>
                          <a:latin typeface="Calibri"/>
                        </a:rPr>
                        <a:t>IP_ADD_MEMBERSHIP (ip_mreq), 239.255.42.99, TTL scope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415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4151"/>
                          </a:solidFill>
                          <a:latin typeface="Calibri"/>
                        </a:rPr>
                        <a:t>SNTP clock sync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74151"/>
                          </a:solidFill>
                          <a:latin typeface="Calibri"/>
                        </a:rPr>
                        <a:t>48-byte NTP packet over UDP, client + server (RFC 4330)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Demo and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console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43454"/>
            <a:ext cx="6400800" cy="23539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77900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Console demo run</a:t>
            </a:r>
          </a:p>
        </p:txBody>
      </p:sp>
      <p:pic>
        <p:nvPicPr>
          <p:cNvPr id="9" name="Picture 8" descr="dash_liv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234440"/>
            <a:ext cx="36576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0" y="4453127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Dashboard: Compare 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7548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Live chunk map, 8 charts, SNTP card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Sweeps tab from experiments.json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833872"/>
            <a:ext cx="106984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Demo: 6 receivers, 8% loss, 3% shared loss, 512 KB file - ReliCast 130 NACKs (134 suppressed), verified: True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Results 1: scaling with receivers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pic>
        <p:nvPicPr>
          <p:cNvPr id="7" name="Picture 6" descr="duration_vs_recei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22158"/>
            <a:ext cx="5486400" cy="3647923"/>
          </a:xfrm>
          <a:prstGeom prst="rect">
            <a:avLst/>
          </a:prstGeom>
        </p:spPr>
      </p:pic>
      <p:pic>
        <p:nvPicPr>
          <p:cNvPr id="8" name="Picture 7" descr="overhead_vs_receiv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50657"/>
            <a:ext cx="5486400" cy="3590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34924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Controlled comparison: byte-identical payload (same SHA-256) in all 4 modes, same N / loss / 4000 pkt/s link (TCP paced too), 3 reps averaged; only bytes on the wire may differ.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833872"/>
            <a:ext cx="106984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 = 16: overhead TCP 18.30x vs ReliCast 1.72x; duration TCP 2.28s, naive 0.43s, ReliCast 0.39s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Results 2: effect of packet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duration_vs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5038"/>
            <a:ext cx="5486400" cy="3647923"/>
          </a:xfrm>
          <a:prstGeom prst="rect">
            <a:avLst/>
          </a:prstGeom>
        </p:spPr>
      </p:pic>
      <p:pic>
        <p:nvPicPr>
          <p:cNvPr id="8" name="Picture 7" descr="delivery_vs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19400"/>
            <a:ext cx="5486400" cy="361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33872"/>
            <a:ext cx="106984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At 20% loss: UDP delivers 79.3%; ReliCast and naive deliver 100%; ReliCast pays latency (1.16s vs 0.71s naive)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Results 3: feedback traffic, delay and jitter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pic>
        <p:nvPicPr>
          <p:cNvPr id="7" name="Picture 6" descr="nack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7400"/>
            <a:ext cx="5120640" cy="3203200"/>
          </a:xfrm>
          <a:prstGeom prst="rect">
            <a:avLst/>
          </a:prstGeom>
        </p:spPr>
      </p:pic>
      <p:pic>
        <p:nvPicPr>
          <p:cNvPr id="8" name="Picture 7" descr="owd_ji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065446"/>
            <a:ext cx="5852160" cy="272710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33872"/>
            <a:ext cx="106984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60% fewer NACKs and 24% fewer repairs than naive multicast; OWD 2.89 ms, jitter 0.34 ms (ReliCast)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Real-world mode: discovery and lobby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pic>
        <p:nvPicPr>
          <p:cNvPr id="7" name="Picture 6" descr="discovery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43354"/>
            <a:ext cx="6035040" cy="28911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12801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600">
                <a:solidFill>
                  <a:srgbClr val="111827"/>
                </a:solidFill>
                <a:latin typeface="Calibri"/>
              </a:rPr>
              <a:t>Send: </a:t>
            </a:r>
            <a:r>
              <a:rPr sz="1600">
                <a:solidFill>
                  <a:srgbClr val="374151"/>
                </a:solidFill>
                <a:latin typeface="Calibri"/>
              </a:rPr>
              <a:t>python run.py send &lt;file&gt; --mode relicast|naive|tcp|udp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600">
                <a:solidFill>
                  <a:srgbClr val="111827"/>
                </a:solidFill>
                <a:latin typeface="Calibri"/>
              </a:rPr>
              <a:t>Receive: </a:t>
            </a:r>
            <a:r>
              <a:rPr sz="1600">
                <a:solidFill>
                  <a:srgbClr val="374151"/>
                </a:solidFill>
                <a:latin typeface="Calibri"/>
              </a:rPr>
              <a:t>python run.py receive (or dashboard tabs)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600">
                <a:solidFill>
                  <a:srgbClr val="111827"/>
                </a:solidFill>
                <a:latin typeface="Calibri"/>
              </a:rPr>
              <a:t>Discovery: </a:t>
            </a:r>
            <a:r>
              <a:rPr sz="1600">
                <a:solidFill>
                  <a:srgbClr val="374151"/>
                </a:solidFill>
                <a:latin typeface="Calibri"/>
              </a:rPr>
              <a:t>UDP broadcast beacon on port 5599 every second (Unit 4)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600">
                <a:solidFill>
                  <a:srgbClr val="111827"/>
                </a:solidFill>
                <a:latin typeface="Calibri"/>
              </a:rPr>
              <a:t>Lobby: </a:t>
            </a:r>
            <a:r>
              <a:rPr sz="1600">
                <a:solidFill>
                  <a:srgbClr val="374151"/>
                </a:solidFill>
                <a:latin typeface="Calibri"/>
              </a:rPr>
              <a:t>TCP JSON lines - meta, ready, probe, start{transport}, progress, done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600">
                <a:solidFill>
                  <a:srgbClr val="111827"/>
                </a:solidFill>
                <a:latin typeface="Calibri"/>
              </a:rPr>
              <a:t>Saved </a:t>
            </a:r>
            <a:r>
              <a:rPr sz="1600">
                <a:solidFill>
                  <a:srgbClr val="374151"/>
                </a:solidFill>
                <a:latin typeface="Calibri"/>
              </a:rPr>
              <a:t>to ~/ReliCast/received after SHA-256 check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1600">
                <a:solidFill>
                  <a:srgbClr val="111827"/>
                </a:solidFill>
                <a:latin typeface="Calibri"/>
              </a:rPr>
              <a:t>Phones: </a:t>
            </a:r>
            <a:r>
              <a:rPr sz="1600">
                <a:solidFill>
                  <a:srgbClr val="374151"/>
                </a:solidFill>
                <a:latin typeface="Calibri"/>
              </a:rPr>
              <a:t>/download and /upload pages with --lan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6035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Cross-platform: no SO_REUSEPORT on Windows, wildcard multicast bind, perf_counter-anchored clock, ANSI enable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Multicast probe and TCP fallback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pic>
        <p:nvPicPr>
          <p:cNvPr id="7" name="Picture 6" descr="lobby_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90605"/>
            <a:ext cx="6583680" cy="49168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4630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6A34A"/>
                </a:solidFill>
                <a:latin typeface="Calibri"/>
              </a:rPr>
              <a:t>•  </a:t>
            </a:r>
            <a:r>
              <a:rPr sz="1800">
                <a:solidFill>
                  <a:srgbClr val="374151"/>
                </a:solidFill>
                <a:latin typeface="Calibri"/>
              </a:rPr>
              <a:t>Sender multicasts 10 PROBE packets; each receiver replies mcast_ok over TCP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6A34A"/>
                </a:solidFill>
                <a:latin typeface="Calibri"/>
              </a:rPr>
              <a:t>•  </a:t>
            </a:r>
            <a:r>
              <a:rPr sz="1800">
                <a:solidFill>
                  <a:srgbClr val="374151"/>
                </a:solidFill>
                <a:latin typeface="Calibri"/>
              </a:rPr>
              <a:t>Receivers that hear nothing are served over TCP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6A34A"/>
                </a:solidFill>
                <a:latin typeface="Calibri"/>
              </a:rPr>
              <a:t>•  </a:t>
            </a:r>
            <a:r>
              <a:rPr sz="1800">
                <a:solidFill>
                  <a:srgbClr val="374151"/>
                </a:solidFill>
                <a:latin typeface="Calibri"/>
              </a:rPr>
              <a:t>Others keep multicast + NACK repair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6A34A"/>
                </a:solidFill>
                <a:latin typeface="Calibri"/>
              </a:rPr>
              <a:t>•  </a:t>
            </a:r>
            <a:r>
              <a:rPr sz="1800">
                <a:solidFill>
                  <a:srgbClr val="374151"/>
                </a:solidFill>
                <a:latin typeface="Calibri"/>
              </a:rPr>
              <a:t>One blocked device never stalls the session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Real transfer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pic>
        <p:nvPicPr>
          <p:cNvPr id="7" name="Picture 6" descr="live_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2420"/>
            <a:ext cx="6766560" cy="38645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733288"/>
            <a:ext cx="67665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Send / receive terminals</a:t>
            </a:r>
          </a:p>
        </p:txBody>
      </p:sp>
      <p:pic>
        <p:nvPicPr>
          <p:cNvPr id="9" name="Picture 8" descr="dash_send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463540"/>
            <a:ext cx="4206240" cy="24678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79" y="4178808"/>
            <a:ext cx="4206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Dashboard Send tab: all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38912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•  </a:t>
            </a:r>
            <a:r>
              <a:rPr sz="1400">
                <a:solidFill>
                  <a:srgbClr val="374151"/>
                </a:solidFill>
                <a:latin typeface="Calibri"/>
              </a:rPr>
              <a:t>Identical SHA-256 on all copies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•  </a:t>
            </a:r>
            <a:r>
              <a:rPr sz="1400">
                <a:solidFill>
                  <a:srgbClr val="374151"/>
                </a:solidFill>
                <a:latin typeface="Calibri"/>
              </a:rPr>
              <a:t>One machine, own interface: loopback-class delivery, emulated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833872"/>
            <a:ext cx="106984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Honest scope: real multi-device hotspot testing is future work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2000">
                <a:solidFill>
                  <a:srgbClr val="111827"/>
                </a:solidFill>
                <a:latin typeface="Calibri"/>
              </a:rPr>
              <a:t>Bytes: </a:t>
            </a:r>
            <a:r>
              <a:rPr sz="2000">
                <a:solidFill>
                  <a:srgbClr val="374151"/>
                </a:solidFill>
                <a:latin typeface="Calibri"/>
              </a:rPr>
              <a:t>ReliCast overhead stays 1.13-1.72x for N up to 16; unicast grows ~ 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2000">
                <a:solidFill>
                  <a:srgbClr val="111827"/>
                </a:solidFill>
                <a:latin typeface="Calibri"/>
              </a:rPr>
              <a:t>Reliability: </a:t>
            </a:r>
            <a:r>
              <a:rPr sz="2000">
                <a:solidFill>
                  <a:srgbClr val="374151"/>
                </a:solidFill>
                <a:latin typeface="Calibri"/>
              </a:rPr>
              <a:t>100% delivery with SHA-256 verification (every ReliCast transfer was verified); raw UDP only 79.3% at 20% loss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2000">
                <a:solidFill>
                  <a:srgbClr val="111827"/>
                </a:solidFill>
                <a:latin typeface="Calibri"/>
              </a:rPr>
              <a:t>Feedback: </a:t>
            </a:r>
            <a:r>
              <a:rPr sz="2000">
                <a:solidFill>
                  <a:srgbClr val="374151"/>
                </a:solidFill>
                <a:latin typeface="Calibri"/>
              </a:rPr>
              <a:t>randomised suppression + aggregation cut NACKs by 60% and repairs by 24% at the demo point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2000">
                <a:solidFill>
                  <a:srgbClr val="111827"/>
                </a:solidFill>
                <a:latin typeface="Calibri"/>
              </a:rPr>
              <a:t>Measurement: </a:t>
            </a:r>
            <a:r>
              <a:rPr sz="2000">
                <a:solidFill>
                  <a:srgbClr val="374151"/>
                </a:solidFill>
                <a:latin typeface="Calibri"/>
              </a:rPr>
              <a:t>SNTP recovers skews within 0.42 ms, making real-socket OWD and jitter measurable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6A34A"/>
                </a:solidFill>
                <a:latin typeface="Calibri"/>
              </a:rPr>
              <a:t>•  </a:t>
            </a:r>
            <a:r>
              <a:rPr b="1" sz="2000">
                <a:solidFill>
                  <a:srgbClr val="111827"/>
                </a:solidFill>
                <a:latin typeface="Calibri"/>
              </a:rPr>
              <a:t>Limitation: </a:t>
            </a:r>
            <a:r>
              <a:rPr sz="2000">
                <a:solidFill>
                  <a:srgbClr val="374151"/>
                </a:solidFill>
                <a:latin typeface="Calibri"/>
              </a:rPr>
              <a:t>emulated loss, one host; at high loss ReliCast trades latency for fewer packets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Calibri"/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ReliCast  |  BMSCE CSE  |  Network Programming 2026-2027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6A34A"/>
                </a:solidFill>
                <a:latin typeface="Calibri"/>
              </a:rPr>
              <a:t>•  </a:t>
            </a:r>
            <a:r>
              <a:rPr sz="2200">
                <a:solidFill>
                  <a:srgbClr val="374151"/>
                </a:solidFill>
                <a:latin typeface="Calibri"/>
              </a:rPr>
              <a:t>Multi-host LAN and Wi-Fi measurement campaign (IGMP snooping, multicast rates)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6A34A"/>
                </a:solidFill>
                <a:latin typeface="Calibri"/>
              </a:rPr>
              <a:t>•  </a:t>
            </a:r>
            <a:r>
              <a:rPr sz="2200">
                <a:solidFill>
                  <a:srgbClr val="374151"/>
                </a:solidFill>
                <a:latin typeface="Calibri"/>
              </a:rPr>
              <a:t>FEC-coded repairs (NORM-style parity)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6A34A"/>
                </a:solidFill>
                <a:latin typeface="Calibri"/>
              </a:rPr>
              <a:t>•  </a:t>
            </a:r>
            <a:r>
              <a:rPr sz="2200">
                <a:solidFill>
                  <a:srgbClr val="374151"/>
                </a:solidFill>
                <a:latin typeface="Calibri"/>
              </a:rPr>
              <a:t>Congestion control instead of a fixed pacing rate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6A34A"/>
                </a:solidFill>
                <a:latin typeface="Calibri"/>
              </a:rPr>
              <a:t>•  </a:t>
            </a:r>
            <a:r>
              <a:rPr sz="2200">
                <a:solidFill>
                  <a:srgbClr val="374151"/>
                </a:solidFill>
                <a:latin typeface="Calibri"/>
              </a:rPr>
              <a:t>SRM-style local recovery and receiver-side repair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6A34A"/>
                </a:solidFill>
                <a:latin typeface="Calibri"/>
              </a:rPr>
              <a:t>•  </a:t>
            </a:r>
            <a:r>
              <a:rPr sz="2200">
                <a:solidFill>
                  <a:srgbClr val="374151"/>
                </a:solidFill>
                <a:latin typeface="Calibri"/>
              </a:rPr>
              <a:t>Authenticated sessions; larger groups; wider comparison of adaptive vs fixed windows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0">
                <a:solidFill>
                  <a:srgbClr val="D1D5DB"/>
                </a:solidFill>
                <a:latin typeface="Calibri"/>
              </a:rPr>
              <a:t>References: Floyd et al., IEEE/ACM ToN 1997 (SRM)  |  RFC 5740 (NORM)  |  RFC 4330 (SNTP)  |  RFC 1112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ReliCast</dc:title>
  <dc:subject/>
  <dc:creator>NAME 1, NAME 2, NAME 3, NAME 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